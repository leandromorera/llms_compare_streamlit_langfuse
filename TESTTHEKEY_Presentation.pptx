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70" r:id="rId16"/>
    <p:sldId id="271" r:id="rId17"/>
    <p:sldId id="272" r:id="rId18"/>
    <p:sldId id="273" r:id="rId19"/>
    <p:sldId id="275" r:id="rId20"/>
    <p:sldId id="276" r:id="rId21"/>
    <p:sldId id="274" r:id="rId22"/>
    <p:sldId id="269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377440"/>
            <a:ext cx="11868912" cy="22860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LLM-Judge Fake Receipt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B4D8"/>
                </a:solidFill>
                <a:latin typeface="Calibri"/>
              </a:rPr>
              <a:t>3 OpenAI Vision Judges  ·  Majority Vote  ·  Langfuse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Python  ·  Streamlit  ·  OpenAI  ·  Langfuse  · 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Why can't classical CV catch receipt forgeries?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What forgers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Change a single digit in the total
• Copy-paste amounts between receipts
• Alter font or spacing in key fields
• Substitute store names / dates
• Save at same quality — no metadata leak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3657600" cy="34747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0248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Why classical features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Blur &amp; brightness: nearly identical
• File size: forgers match it
• Aspect ratio: same portrait format
• No single feature separates classes
• Dataset: 83.9% REAL → naive baseline = 83.9%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325880"/>
            <a:ext cx="384048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384048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8" y="1362456"/>
            <a:ext cx="3712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Solution: Vision LLM judges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1728216"/>
            <a:ext cx="362102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Trained on billions of documents
• Detect font inconsistencies visually
• Spot pixel-level copy-paste artefacts
• Read layout plausibility holistically
• No labelled training data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End-to-end pipeline for a single receipt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2011680" cy="34747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2011680" cy="34747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Receipt image
(.png / .jpg)
+ OCR .txt
(optional)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8296" y="30175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2888" y="1554480"/>
            <a:ext cx="2011680" cy="34747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32888" y="15544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993392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CPU-only
Blur · Brightness
Contrast · Dims
OCR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175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5736" y="1554480"/>
            <a:ext cx="2011680" cy="34747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1554480"/>
            <a:ext cx="2011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18888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JUDGE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993392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 × OpenAI Vision
gpt-4o-mini
gpt-4.1-mini
gpt-4o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30175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8584" y="1554480"/>
            <a:ext cx="2011680" cy="34747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58584" y="1554480"/>
            <a:ext cx="201168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31736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VOTE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1993392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Majority Vote
FAKE ≥ 2
REAL ≥ 2
else UNCERTAIN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0175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1432" y="1554480"/>
            <a:ext cx="2011680" cy="34747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71432" y="1554480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584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1993392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Verdict +
Confidence +
Reasons +
Flags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303520"/>
            <a:ext cx="11521440" cy="11887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76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Calibri"/>
              </a:rPr>
              <a:t>LANGFUSE  (via MCP)  — Full observability on every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Trace → dataset_analysis span → judge_1/2/3 generations (prompt + tokens + latency) → vote_aggregation span → 8 scores → dataset_run_log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Judge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Three independent personas — deliberately different priors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judge_1  ·  gpt-4o-mini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Aggressively flags any forensic inconsistency
• Temperature 0.2 → deterministic, conservative
• Tends toward UNCERTAIN when evidence is weak
• Best at catching obvious copy-paste artefacts
• Lowest cost — $0.15/$0.60 per 1M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74C3C"/>
                </a:solidFill>
                <a:latin typeface="Calibri"/>
              </a:rPr>
              <a:t>"Strict / Skeptical"  ·  temp=0.2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0248" y="1325880"/>
            <a:ext cx="3657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9976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judge_2  ·  gpt-4.1-mini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Weighs printing/scan artefacts vs tampering
• Temperature 0.4 → moderate variability
• Most accurate in our evaluation (70%)
• Distinguishes thermal printer quirks from edits
• Mid-range cost — $0.40/$1.60 per 1M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B4D8"/>
                </a:solidFill>
                <a:latin typeface="Calibri"/>
              </a:rPr>
              <a:t>"Balanced / Artifact-aware"  ·  temp=0.4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0456" y="1325880"/>
            <a:ext cx="36576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4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judge_3  ·  gpt-4o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Assumes REAL unless manipulation is clear
• Temperature 0.7 → higher variability
• Highest capability vision model (tiebreaker)
• Most decisive — rarely returns UNCERTAIN
• Premium cost — $2.50/$10.00 per 1M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CC71"/>
                </a:solidFill>
                <a:latin typeface="Calibri"/>
              </a:rPr>
              <a:t>"Lenient / Benefit-of-doubt"  ·  temp=0.7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Judge Prompt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Same base prompt, only the persona line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6858000" cy="521208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PROMPT (verbatim)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C4DE"/>
                </a:solidFill>
                <a:latin typeface="Calibri"/>
              </a:rPr>
              <a:t>You are an expert forensic document examiner evaluating whether a receipt image is forged.
Persona: {persona}
Return ONLY valid JSON:
{
  "label": "FAKE|REAL|UNCERTAIN",
  "confidence": 0-100,
  "reasons": ["short reason 1", ...],
  "flags": ["optional tag", ...]
}
Guidelines:
• Base decision on visual cues (fonts, alignment, spacing,
  copy-paste digits, pixel artifacts, shadows, totals)
• UNCERTAIN + lower confidence if evidence is weak
• reasons must be short, concrete, observable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280160"/>
            <a:ext cx="4434840" cy="23774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0" y="1280160"/>
            <a:ext cx="44348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16368" y="1316736"/>
            <a:ext cx="4306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Structured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1682496"/>
            <a:ext cx="421538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response_format: json_object (where supported)
• Fallback: salvage first {…} block
• _normalize_output() enforces schema:
•   label ∈ {FAKE, REAL, UNCERTAIN}
•   confidence clamped 0–100
•   reasons: 1–5 strings ≤ 240 chars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840480"/>
            <a:ext cx="4434840" cy="26517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3840480"/>
            <a:ext cx="443484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16368" y="3877056"/>
            <a:ext cx="4306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Why this prompt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4242816"/>
            <a:ext cx="4215384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Short → fast, cheap, less hallucination
• Concrete cues → actionable reasoning
• UNCERTAIN is explicit, not a failure
• Persona injects prior → ensemble diversity
• Image sent as base64 data URL inline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Dataset &amp;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findit2 test set — 218 Malaysian retail receipts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560320" cy="12801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218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Total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325880"/>
            <a:ext cx="2560320" cy="12801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REAL (83.9%)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25880"/>
            <a:ext cx="2560320" cy="12801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FAKE (16.1%)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325880"/>
            <a:ext cx="2560320" cy="12801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5.2:1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Class imbalance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394960" cy="36576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539496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" y="2871216"/>
            <a:ext cx="5266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Key insight — class imbalance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3236976"/>
            <a:ext cx="5175504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Naive classifier (always REAL) = 83.9% accuracy
• Accuracy alone is a misleading metric
• Per-class recall + UNCERTAIN rate matter more
• Sampling for evaluation must be stratified
• Use 'FAKE only' filter to oversample minority 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834640"/>
            <a:ext cx="5943600" cy="36576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97880" y="2834640"/>
            <a:ext cx="5943600" cy="34747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07608" y="2871216"/>
            <a:ext cx="5815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What features tell us (and don't)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3236976"/>
            <a:ext cx="5724144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File size: REAL ≈ FAKE — forgers match it
• Aspect ratio: both portrait ~0.4–0.5
• Blur variance: wide spread in both classes
• Brightness: slight over-exposure in some fakes
• → No single feature cleanly separates classes
• → Validates LLM vision over classical CV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20-image batch · 3 judges · majority vote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606040" cy="13716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299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Overall accuracy
(11/20 correct)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325880"/>
            <a:ext cx="2606040" cy="13716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138988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74C3C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299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Wrong predictions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25880"/>
            <a:ext cx="2606040" cy="13716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38988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C71"/>
                </a:solidFill>
                <a:latin typeface="Calibr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0299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Best single judge
(judge_2 / gpt-4.1-mini)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325880"/>
            <a:ext cx="2606040" cy="13716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138988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0C4DE"/>
                </a:solidFill>
                <a:latin typeface="Calibri"/>
              </a:rPr>
              <a:t>$0.007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0299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Total API cost
(128 traces session)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11521440" cy="35204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999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Per-judge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40156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401568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Calibri"/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4DE"/>
                </a:solidFill>
                <a:latin typeface="Calibri"/>
              </a:rPr>
              <a:t>Avg.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40156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Calibri"/>
              </a:rPr>
              <a:t>FAKE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340156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Calibri"/>
              </a:rPr>
              <a:t>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3401568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4DE"/>
                </a:solidFill>
                <a:latin typeface="Calibri"/>
              </a:rPr>
              <a:t>UNCERTAIN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4015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C4DE"/>
                </a:solidFill>
                <a:latin typeface="Calibri"/>
              </a:rPr>
              <a:t>Key observation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877056"/>
            <a:ext cx="11430000" cy="475488"/>
          </a:xfrm>
          <a:prstGeom prst="rect">
            <a:avLst/>
          </a:prstGeom>
          <a:solidFill>
            <a:srgbClr val="1A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395020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judge_1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95020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gpt-4o-mini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95020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5.0%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8688" y="395020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54.5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950208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3950208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395020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9502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Defaults to UNCERTAIN — almost useless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4352544"/>
            <a:ext cx="11430000" cy="47548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442569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judge_2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8" y="442569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gpt-4.1-mini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442569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70.0%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18688" y="442569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79.5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442569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8" y="442569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3248" y="44256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4256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Most decisive and accurate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4828032"/>
            <a:ext cx="11430000" cy="475488"/>
          </a:xfrm>
          <a:prstGeom prst="rect">
            <a:avLst/>
          </a:prstGeom>
          <a:solidFill>
            <a:srgbClr val="1A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" y="490118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judge_3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" y="490118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gpt-4o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95728" y="490118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65.0%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18688" y="490118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82.8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7408" y="490118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10328" y="490118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13248" y="490118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490118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High confidence, never FAKE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Three representative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46634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Case 1 — False Negative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28216"/>
            <a:ext cx="3438144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GT: FAKE  →  Predicted: REAL
• Vote: FAKE:0 · REAL:2 · UNCERTAIN:1
• Judges 2+3 read layout as authentic
• Forgery: single digit changed in total
• No copy-paste artefact visible at standard res
• → LLMs can't detect numeric-only edits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325880"/>
            <a:ext cx="3657600" cy="46634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70248" y="1325880"/>
            <a:ext cx="3657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9976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Case 2 — Three-way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728216"/>
            <a:ext cx="3438144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GT: REAL  →  Predicted: UNCERTAIN
• Vote: FAKE:1 · REAL:1 · UNCERTAIN:1
• Judge 1 flagged thermal printer font quirk
• Judge 3 accepted as real, judge 2 undecided
• Root cause: thermal artefacts mimic forgery
• → Main source of false positives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325880"/>
            <a:ext cx="3657600" cy="46634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0456" y="1325880"/>
            <a:ext cx="3657600" cy="34747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4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Case 3 — Conservative Miss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728216"/>
            <a:ext cx="3438144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GT: FAKE  →  Predicted: UNCERTAIN
• Vote: FAKE:1 · REAL:0 · UNCERTAIN:2
• Only judge_1 correctly identified as FAKE
• Other two withheld votes → no majority
• Root cause: small/low-res image, cues invisible
• → Visual-only detection has resolution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1722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B4D8"/>
                </a:solidFill>
                <a:latin typeface="Calibri"/>
              </a:rPr>
              <a:t>Key fix: add OCR arithmetic check (do line items sum to total?) as a pre-filter — catches Case 1 class at near-zero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Langfuse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Full LLM operation visibility via MCP — no credentials in app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39496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5266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What is logged per receipt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28216"/>
            <a:ext cx="517550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dataset_analysis span — image stats (free, CPU)
• judge_1 generation — full system prompt + JSON response
•   → real input/output/total tokens + latency_ms
• judge_2 generation — same, different model
• judge_3 generation — same, gpt-4o
• vote_aggregation span — labels → final verdict
• 8 scores per trace:
•   judge_N_confidence · judge_N_correctness (×3)
•   final_correct · inter_judge_agreement
• dataset_run_log — links trace to named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43600" cy="23774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436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07608" y="1362456"/>
            <a:ext cx="5815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MCP integration (no SDK in app)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1728216"/>
            <a:ext cx="5724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LangfuseMCPClient sends JSON-RPC to localhost:8005/mcp/
• MCP server holds Langfuse credentials internally
• Streamlit app needs zero LANGFUSE_* env vars
• Follows redirects · session-ID optional · SSE + JSON
• All errors caught silently — batch never aborted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3886200"/>
            <a:ext cx="5943600" cy="25603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7880" y="3886200"/>
            <a:ext cx="59436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07608" y="3922776"/>
            <a:ext cx="5815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Dataset runs — cross-run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4288536"/>
            <a:ext cx="5724144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Each batch gets a named run (e.g. test-v1, test-v2)
• Langfuse groups traces by run automatically
• Compare accuracy / cost / scores across experiments
• Charts tab needs ≥ 2 runs to populate
• Real session cost: $0.007182  ·  128 traces  ·  60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Streamlit Dashboard — 3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Interactive UI for single analysis, statistics, and batch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Tab 1 — Analyze Receipt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Select any receipt from the dataset
• View image + extracted lightweight features
• Click 'Run judges' → 3 simultaneous API calls
• See per-judge JSON verdict side-by-side
• Majority vote + tally shown instantly
• Logs trace + generations + scores to Langfuse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70248" y="1325880"/>
            <a:ext cx="36576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9976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Tab 2 — Dataset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Scan entire dataset (cached after first run)
• REAL vs FAKE label distribution bar chart
• Receipt total amount histograms (with OCR)
• Image dimensions, file size, aspect ratio
• Sharpness · brightness · contrast overlays
• Summary statistics table by label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325880"/>
            <a:ext cx="365760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0456" y="1325880"/>
            <a:ext cx="36576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4" y="1362456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Tab 3 — Batch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728216"/>
            <a:ext cx="343814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Filter pool: All / REAL only / FAKE only
• Exact image selection with searchable multiselect
• Thumbnail grid (max 30) with REAL/FAKE badges
• Live cost estimate before any API spend
• Progress bar per image during evaluation
• Confusion matrix · box plots · per-judge table
• Download full results as JSON
• Logs comprehensive traces to Langfuse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Code Quality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Production-ready structure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39496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5266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Project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28216"/>
            <a:ext cx="517550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streamlit_app.py  — 3-tab dashboard
• src/judges.py     — prompt builder + run_judge()
• src/vote.py       — majority_vote(), vote_tally()
• src/features.py   — blur, brightness, contrast
• src/dataset.py    — label loading, OCR parsing
• src/langfuse_mcp_client.py — HTTP/MCP wrapper
• scripts/run_eval20.py     — CLI batch eval
• scripts/register_dataset.py — Langfuse registration
• tests/  — 69 unit + integration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943600" cy="23774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436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07608" y="1362456"/>
            <a:ext cx="5815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Reproducibility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1728216"/>
            <a:ext cx="5724144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✓ All secrets in .env (.env.example provided)
• ✓ Pinned versions in requirements.txt
• ✓ random_state=42 for all sampling
• ✓ Deterministic trace IDs (seed=image_id)
• ✓ Dataset items upserted by item_id — safe to re-run
• ✓ Results cached to eval_cache.json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3886200"/>
            <a:ext cx="5943600" cy="25603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7880" y="3886200"/>
            <a:ext cx="59436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07608" y="3922776"/>
            <a:ext cx="5815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4288536"/>
            <a:ext cx="5724144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61 unit tests — no API calls, &lt; 5 seconds
• 8 integration tests — real API, ~$0.01
• Mock OpenAI client for judge tests
• pytest tests/ -v  to run all
• pytest -m integration  for API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Decisions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What we chose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11521440" cy="51663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38988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13898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Chosen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3898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Alternative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8" y="138988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029968"/>
            <a:ext cx="11430000" cy="467258"/>
          </a:xfrm>
          <a:prstGeom prst="rect">
            <a:avLst/>
          </a:prstGeom>
          <a:solidFill>
            <a:srgbClr val="1A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066544"/>
            <a:ext cx="16459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Detection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2066544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LLM vision judges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2066544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Fine-tuned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2066544"/>
            <a:ext cx="57607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labelled training data at scale; LLM generalises across forgery types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497226"/>
            <a:ext cx="11430000" cy="46725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2533802"/>
            <a:ext cx="16459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Ensemble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2533802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 judges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2533802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 or 5+ judges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2533802"/>
            <a:ext cx="57607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Minimum for majority vote; 5+ adds cost with marginal benefit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964484"/>
            <a:ext cx="11430000" cy="467258"/>
          </a:xfrm>
          <a:prstGeom prst="rect">
            <a:avLst/>
          </a:prstGeom>
          <a:solidFill>
            <a:srgbClr val="1A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3001060"/>
            <a:ext cx="16459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3001060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Majority vote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928" y="3001060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Weighted confidence avg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3001060"/>
            <a:ext cx="57607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Simple, interpretable, robust to one outlier judge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431743"/>
            <a:ext cx="11430000" cy="46725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" y="3468319"/>
            <a:ext cx="16459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7128" y="3468319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Explicit UNCERTAIN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3468319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Force binary FAKE/REAL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4728" y="3468319"/>
            <a:ext cx="57607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Preserves calibration; flags hard cases for human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899001"/>
            <a:ext cx="11430000" cy="467258"/>
          </a:xfrm>
          <a:prstGeom prst="rect">
            <a:avLst/>
          </a:prstGeom>
          <a:solidFill>
            <a:srgbClr val="1A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3935577"/>
            <a:ext cx="16459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7128" y="3935577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Langfuse via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5928" y="3935577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logging / direct SDK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4728" y="3935577"/>
            <a:ext cx="57607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MCP avoids credentials in app; adds prompt versioning + cost tracking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4366260"/>
            <a:ext cx="11430000" cy="46725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" y="4402836"/>
            <a:ext cx="16459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7128" y="4402836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95928" y="4402836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CLI only or Dash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24728" y="4402836"/>
            <a:ext cx="57607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Fast to build, interactive; Dash only needed at production scale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4833518"/>
            <a:ext cx="11430000" cy="467258"/>
          </a:xfrm>
          <a:prstGeom prst="rect">
            <a:avLst/>
          </a:prstGeom>
          <a:solidFill>
            <a:srgbClr val="1A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" y="4870094"/>
            <a:ext cx="16459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Prompt length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67128" y="4870094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Short &amp; concrete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5928" y="4870094"/>
            <a:ext cx="173736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Long chain-of-thought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24728" y="4870094"/>
            <a:ext cx="5760720" cy="43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Shorter = faster, cheaper, less hallucination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Next Steps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  <a:latin typeface="Calibri"/>
              </a:rPr>
              <a:t>Clear path to higher accuracy and lower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56616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56616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362456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Quick wins (no API cost)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28216"/>
            <a:ext cx="334670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OCR arithmetic check: do items sum to total?
• Catches single-digit substitutions (Case 1)
• Hash-based duplicate detection
• Image metadata check (EXIF editing traces)
• Hard rules as pre-filter before LLM judges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25880"/>
            <a:ext cx="356616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9080" y="1325880"/>
            <a:ext cx="35661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8808" y="1362456"/>
            <a:ext cx="3438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Model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1728216"/>
            <a:ext cx="334670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Replace gpt-4o-mini (judge_1) — too uncertain
• Try gpt-4.1 for higher accuracy
• Stratified 50/50 batch for fair evaluation
• Tune temperature per judge via Langfuse runs
• Add chain-of-thought for borderline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1325880"/>
            <a:ext cx="4023360" cy="5120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325880"/>
            <a:ext cx="402336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362456"/>
            <a:ext cx="38953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Platform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728216"/>
            <a:ext cx="3803904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• Human annotation loop (Langfuse UI)
• LLM-as-a-Judge scoring via Langfuse eval
• Prompt versioning + A/B comparison
• Export to production REST API (FastAPI)
• Add confidence threshold for auto-rejection
• Scheduled batch eval with email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17736E31-2D50-8CE9-92BC-D9C178F7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101"/>
            <a:ext cx="12188825" cy="633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38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70661980-F4B6-E930-3F5C-AAD12727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002"/>
            <a:ext cx="12188825" cy="626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50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364671E-A3CD-1F17-5DC7-E20610D70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01"/>
            <a:ext cx="12188825" cy="63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3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9437A1A4-2C3F-1840-A291-14F8BC9E8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941"/>
            <a:ext cx="12188825" cy="636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42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54FE4BB-8B68-B73C-9A5E-81D8F715F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994"/>
            <a:ext cx="12188825" cy="63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60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554C0D6C-E2B6-6F78-D8AB-5638EDAE3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744"/>
            <a:ext cx="12188825" cy="634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62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6443A3FD-A43E-82B4-DC5B-56F92B75E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86713"/>
            <a:ext cx="12188825" cy="63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13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10D48AD-C4B1-0C5A-77EF-3DE23AF9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034"/>
            <a:ext cx="12188825" cy="635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32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2286000"/>
            <a:ext cx="11868912" cy="25603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B4D8"/>
                </a:solidFill>
                <a:latin typeface="Calibri"/>
              </a:rPr>
              <a:t>LLM-Judge Fake Receipt Detector  ·  TESTTHEKEY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Stack:  Python  ·  OpenAI Vision API  ·  Streamlit  ·  Langfuse  ·  MCP  ·  Plotly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2224</Words>
  <Application>Microsoft Office PowerPoint</Application>
  <PresentationFormat>Personalizado</PresentationFormat>
  <Paragraphs>184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Leandro Morera Delfín</cp:lastModifiedBy>
  <cp:revision>4</cp:revision>
  <dcterms:created xsi:type="dcterms:W3CDTF">2013-01-27T09:14:16Z</dcterms:created>
  <dcterms:modified xsi:type="dcterms:W3CDTF">2026-02-20T04:03:26Z</dcterms:modified>
  <cp:category/>
</cp:coreProperties>
</file>